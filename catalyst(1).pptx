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8288000" cy="10287000"/>
  <p:notesSz cx="6858000" cy="9144000"/>
  <p:embeddedFontLst>
    <p:embeddedFont>
      <p:font typeface="DM Sans" pitchFamily="2" charset="0"/>
      <p:regular r:id="rId6"/>
      <p:bold r:id="rId7"/>
      <p:italic r:id="rId8"/>
      <p:boldItalic r:id="rId9"/>
    </p:embeddedFont>
    <p:embeddedFont>
      <p:font typeface="DM Sans Bold" pitchFamily="2" charset="0"/>
      <p:regular r:id="rId10"/>
      <p:bold r:id="rId11"/>
    </p:embeddedFont>
    <p:embeddedFont>
      <p:font typeface="Roboto" panose="02000000000000000000" pitchFamily="2" charset="0"/>
      <p:regular r:id="rId12"/>
      <p:bold r:id="rId13"/>
      <p:italic r:id="rId14"/>
      <p:boldItalic r:id="rId15"/>
    </p:embeddedFont>
    <p:embeddedFont>
      <p:font typeface="Roboto Bold" panose="02000000000000000000" pitchFamily="2" charset="0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79EF17-D3E1-4643-A1A3-4354437E5B63}" v="892" dt="2026-01-12T03:10:30.887"/>
    <p1510:client id="{389764E4-9B1B-458A-A334-FE03D11A66EF}" v="151" dt="2026-01-12T02:41:50.843"/>
    <p1510:client id="{C2C924E6-488F-4C41-B2F7-8BFFEC4ACB15}" v="8" dt="2026-01-12T03:11:28.0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1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font" Target="fonts/font10.fntdata"/><Relationship Id="rId10" Type="http://schemas.openxmlformats.org/officeDocument/2006/relationships/font" Target="fonts/font5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font" Target="fonts/font9.fntdata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826158" y="-490259"/>
            <a:ext cx="2085990" cy="208599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932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0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802177" y="-752495"/>
            <a:ext cx="2085990" cy="208599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93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07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042995" y="8952206"/>
            <a:ext cx="2085990" cy="208599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932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07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899805" y="633119"/>
            <a:ext cx="12491591" cy="961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76"/>
              </a:lnSpc>
            </a:pPr>
            <a:r>
              <a:rPr lang="en-US" sz="7475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PROBLEMS AND SOLUTIONS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629015" y="1995491"/>
            <a:ext cx="2351484" cy="748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 b="1">
                <a:solidFill>
                  <a:srgbClr val="F89320"/>
                </a:solidFill>
                <a:latin typeface="Roboto Bold"/>
                <a:ea typeface="Roboto Bold"/>
                <a:cs typeface="Roboto Bold"/>
                <a:sym typeface="Roboto Bold"/>
              </a:rPr>
              <a:t>Problems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205785" y="1995491"/>
            <a:ext cx="2319486" cy="748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19"/>
              </a:lnSpc>
            </a:pPr>
            <a:r>
              <a:rPr lang="en-US" sz="4299" b="1">
                <a:solidFill>
                  <a:srgbClr val="F89320"/>
                </a:solidFill>
                <a:latin typeface="Roboto Bold"/>
                <a:ea typeface="Roboto Bold"/>
                <a:cs typeface="Roboto Bold"/>
                <a:sym typeface="Roboto Bold"/>
              </a:rPr>
              <a:t>Solutions</a:t>
            </a:r>
          </a:p>
        </p:txBody>
      </p:sp>
      <p:sp>
        <p:nvSpPr>
          <p:cNvPr id="14" name="AutoShape 14"/>
          <p:cNvSpPr/>
          <p:nvPr/>
        </p:nvSpPr>
        <p:spPr>
          <a:xfrm>
            <a:off x="9119589" y="2417131"/>
            <a:ext cx="0" cy="7494700"/>
          </a:xfrm>
          <a:prstGeom prst="line">
            <a:avLst/>
          </a:prstGeom>
          <a:ln w="38100" cap="flat">
            <a:solidFill>
              <a:srgbClr val="E38100"/>
            </a:solidFill>
            <a:prstDash val="solid"/>
            <a:headEnd type="diamond" w="lg" len="lg"/>
            <a:tailEnd type="diamond" w="lg" len="lg"/>
          </a:ln>
        </p:spPr>
      </p:sp>
      <p:sp>
        <p:nvSpPr>
          <p:cNvPr id="15" name="TextBox 15"/>
          <p:cNvSpPr txBox="1"/>
          <p:nvPr/>
        </p:nvSpPr>
        <p:spPr>
          <a:xfrm>
            <a:off x="945959" y="4999782"/>
            <a:ext cx="4125846" cy="430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321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Lack of Exposure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5959" y="5870737"/>
            <a:ext cx="4949257" cy="430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321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Finding right partners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5959" y="6741693"/>
            <a:ext cx="7512262" cy="430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321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Lack of guidance and mentorships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5959" y="4128826"/>
            <a:ext cx="4573333" cy="430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321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Limited Networking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520592" y="4194635"/>
            <a:ext cx="6802915" cy="420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9422" lvl="1" indent="-319711" algn="l">
              <a:lnSpc>
                <a:spcPts val="3168"/>
              </a:lnSpc>
              <a:buFont typeface="Arial"/>
              <a:buChar char="•"/>
            </a:pPr>
            <a:r>
              <a:rPr lang="en-US" sz="296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Structured Idea Sharing &amp; Validation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520592" y="5121874"/>
            <a:ext cx="7330565" cy="420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8810" lvl="1" indent="-319405">
              <a:lnSpc>
                <a:spcPts val="3168"/>
              </a:lnSpc>
              <a:buFont typeface="Arial"/>
              <a:buChar char="•"/>
            </a:pPr>
            <a:r>
              <a:rPr lang="en-US" sz="295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Both human-driven and AI mentorship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520592" y="6075091"/>
            <a:ext cx="8074974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38810" lvl="1" indent="-319405">
              <a:lnSpc>
                <a:spcPts val="3168"/>
              </a:lnSpc>
              <a:buFont typeface="Arial"/>
              <a:buChar char="•"/>
            </a:pPr>
            <a:r>
              <a:rPr lang="en-US" sz="295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Networking </a:t>
            </a:r>
            <a:r>
              <a:rPr lang="en-US" sz="2950">
                <a:solidFill>
                  <a:srgbClr val="000000"/>
                </a:solidFill>
                <a:ea typeface="+mn-lt"/>
                <a:cs typeface="+mn-lt"/>
                <a:sym typeface="Roboto"/>
              </a:rPr>
              <a:t>opportunities</a:t>
            </a:r>
            <a:r>
              <a:rPr lang="en-US" sz="295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 (virtual &amp; physical) </a:t>
            </a:r>
            <a:endParaRPr lang="en-US" sz="2950">
              <a:ea typeface="Calibri"/>
              <a:cs typeface="Calibri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520592" y="3267396"/>
            <a:ext cx="7900761" cy="420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9422" lvl="1" indent="-319711" algn="l">
              <a:lnSpc>
                <a:spcPts val="3168"/>
              </a:lnSpc>
              <a:buFont typeface="Arial"/>
              <a:buChar char="•"/>
            </a:pPr>
            <a:r>
              <a:rPr lang="en-US" sz="296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Real-Time Collaboration &amp; Communication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5959" y="3257871"/>
            <a:ext cx="3851664" cy="430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321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Lack of capitals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520592" y="6959035"/>
            <a:ext cx="8078913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38810" lvl="1" indent="-319405">
              <a:lnSpc>
                <a:spcPts val="3168"/>
              </a:lnSpc>
              <a:buFont typeface="Arial"/>
              <a:buChar char="•"/>
            </a:pPr>
            <a:r>
              <a:rPr lang="en-US" sz="2950">
                <a:ea typeface="+mn-lt"/>
                <a:cs typeface="+mn-lt"/>
              </a:rPr>
              <a:t>Mentorship hiring and startup investment hub</a:t>
            </a:r>
            <a:endParaRPr lang="en-US" sz="2950">
              <a:latin typeface="Roboto"/>
              <a:ea typeface="Roboto"/>
              <a:cs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687589" y="-1057290"/>
            <a:ext cx="2085990" cy="208599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932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0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421995" y="-755508"/>
            <a:ext cx="2085990" cy="208599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93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07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880567" y="9244005"/>
            <a:ext cx="2085990" cy="208599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932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07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757711" y="941269"/>
            <a:ext cx="12772579" cy="1047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3"/>
              </a:lnSpc>
              <a:spcBef>
                <a:spcPct val="0"/>
              </a:spcBef>
            </a:pPr>
            <a:r>
              <a:rPr lang="en-US" sz="7479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PRODUCT AND TECHNOLOGY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63996" y="4050663"/>
            <a:ext cx="5125842" cy="5193342"/>
            <a:chOff x="0" y="0"/>
            <a:chExt cx="1350016" cy="136779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50016" cy="1367794"/>
            </a:xfrm>
            <a:custGeom>
              <a:avLst/>
              <a:gdLst/>
              <a:ahLst/>
              <a:cxnLst/>
              <a:rect l="l" t="t" r="r" b="b"/>
              <a:pathLst>
                <a:path w="1350016" h="1367794">
                  <a:moveTo>
                    <a:pt x="75519" y="0"/>
                  </a:moveTo>
                  <a:lnTo>
                    <a:pt x="1274497" y="0"/>
                  </a:lnTo>
                  <a:cubicBezTo>
                    <a:pt x="1316205" y="0"/>
                    <a:pt x="1350016" y="33811"/>
                    <a:pt x="1350016" y="75519"/>
                  </a:cubicBezTo>
                  <a:lnTo>
                    <a:pt x="1350016" y="1292275"/>
                  </a:lnTo>
                  <a:cubicBezTo>
                    <a:pt x="1350016" y="1333983"/>
                    <a:pt x="1316205" y="1367794"/>
                    <a:pt x="1274497" y="1367794"/>
                  </a:cubicBezTo>
                  <a:lnTo>
                    <a:pt x="75519" y="1367794"/>
                  </a:lnTo>
                  <a:cubicBezTo>
                    <a:pt x="33811" y="1367794"/>
                    <a:pt x="0" y="1333983"/>
                    <a:pt x="0" y="1292275"/>
                  </a:cubicBezTo>
                  <a:lnTo>
                    <a:pt x="0" y="75519"/>
                  </a:lnTo>
                  <a:cubicBezTo>
                    <a:pt x="0" y="33811"/>
                    <a:pt x="33811" y="0"/>
                    <a:pt x="75519" y="0"/>
                  </a:cubicBezTo>
                  <a:close/>
                </a:path>
              </a:pathLst>
            </a:custGeom>
            <a:solidFill>
              <a:srgbClr val="FAB885"/>
            </a:solidFill>
            <a:ln cap="rnd">
              <a:noFill/>
              <a:prstDash val="sysDot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350016" cy="14154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561747" y="4050663"/>
            <a:ext cx="5125842" cy="5193342"/>
            <a:chOff x="0" y="0"/>
            <a:chExt cx="1350016" cy="136779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50016" cy="1367794"/>
            </a:xfrm>
            <a:custGeom>
              <a:avLst/>
              <a:gdLst/>
              <a:ahLst/>
              <a:cxnLst/>
              <a:rect l="l" t="t" r="r" b="b"/>
              <a:pathLst>
                <a:path w="1350016" h="1367794">
                  <a:moveTo>
                    <a:pt x="75519" y="0"/>
                  </a:moveTo>
                  <a:lnTo>
                    <a:pt x="1274497" y="0"/>
                  </a:lnTo>
                  <a:cubicBezTo>
                    <a:pt x="1316205" y="0"/>
                    <a:pt x="1350016" y="33811"/>
                    <a:pt x="1350016" y="75519"/>
                  </a:cubicBezTo>
                  <a:lnTo>
                    <a:pt x="1350016" y="1292275"/>
                  </a:lnTo>
                  <a:cubicBezTo>
                    <a:pt x="1350016" y="1333983"/>
                    <a:pt x="1316205" y="1367794"/>
                    <a:pt x="1274497" y="1367794"/>
                  </a:cubicBezTo>
                  <a:lnTo>
                    <a:pt x="75519" y="1367794"/>
                  </a:lnTo>
                  <a:cubicBezTo>
                    <a:pt x="33811" y="1367794"/>
                    <a:pt x="0" y="1333983"/>
                    <a:pt x="0" y="1292275"/>
                  </a:cubicBezTo>
                  <a:lnTo>
                    <a:pt x="0" y="75519"/>
                  </a:lnTo>
                  <a:cubicBezTo>
                    <a:pt x="0" y="33811"/>
                    <a:pt x="33811" y="0"/>
                    <a:pt x="75519" y="0"/>
                  </a:cubicBezTo>
                  <a:close/>
                </a:path>
              </a:pathLst>
            </a:custGeom>
            <a:solidFill>
              <a:srgbClr val="FAB885"/>
            </a:solidFill>
            <a:ln cap="rnd">
              <a:noFill/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1350016" cy="14154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611618" y="4050663"/>
            <a:ext cx="5125842" cy="5193342"/>
            <a:chOff x="0" y="0"/>
            <a:chExt cx="1350010" cy="136770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350010" cy="1367709"/>
            </a:xfrm>
            <a:custGeom>
              <a:avLst/>
              <a:gdLst/>
              <a:ahLst/>
              <a:cxnLst/>
              <a:rect l="l" t="t" r="r" b="b"/>
              <a:pathLst>
                <a:path w="1350010" h="1367709">
                  <a:moveTo>
                    <a:pt x="1350010" y="30207"/>
                  </a:moveTo>
                  <a:lnTo>
                    <a:pt x="1350010" y="1337501"/>
                  </a:lnTo>
                  <a:cubicBezTo>
                    <a:pt x="1350010" y="1345513"/>
                    <a:pt x="1346827" y="1353196"/>
                    <a:pt x="1341163" y="1358861"/>
                  </a:cubicBezTo>
                  <a:cubicBezTo>
                    <a:pt x="1335498" y="1364526"/>
                    <a:pt x="1327814" y="1367709"/>
                    <a:pt x="1319803" y="1367709"/>
                  </a:cubicBezTo>
                  <a:lnTo>
                    <a:pt x="30207" y="1367709"/>
                  </a:lnTo>
                  <a:cubicBezTo>
                    <a:pt x="13524" y="1367709"/>
                    <a:pt x="0" y="1354184"/>
                    <a:pt x="0" y="1337501"/>
                  </a:cubicBezTo>
                  <a:lnTo>
                    <a:pt x="0" y="30207"/>
                  </a:lnTo>
                  <a:cubicBezTo>
                    <a:pt x="0" y="13524"/>
                    <a:pt x="13524" y="0"/>
                    <a:pt x="30207" y="0"/>
                  </a:cubicBezTo>
                  <a:lnTo>
                    <a:pt x="1319803" y="0"/>
                  </a:lnTo>
                  <a:cubicBezTo>
                    <a:pt x="1336486" y="0"/>
                    <a:pt x="1350010" y="13524"/>
                    <a:pt x="1350010" y="30207"/>
                  </a:cubicBezTo>
                  <a:close/>
                </a:path>
              </a:pathLst>
            </a:custGeom>
            <a:solidFill>
              <a:srgbClr val="FAB885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1350010" cy="14248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642046" y="2335840"/>
            <a:ext cx="2933584" cy="14032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FF751F"/>
                </a:solidFill>
                <a:latin typeface="DM Sans Bold"/>
                <a:ea typeface="DM Sans Bold"/>
                <a:cs typeface="DM Sans Bold"/>
                <a:sym typeface="DM Sans Bold"/>
              </a:rPr>
              <a:t>Key Features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992482" y="2845939"/>
            <a:ext cx="4264372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FF751F"/>
                </a:solidFill>
                <a:latin typeface="DM Sans Bold"/>
                <a:ea typeface="DM Sans Bold"/>
                <a:cs typeface="DM Sans Bold"/>
                <a:sym typeface="DM Sans Bold"/>
              </a:rPr>
              <a:t>System Workflow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49260" y="2845939"/>
            <a:ext cx="5650557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FF751F"/>
                </a:solidFill>
                <a:latin typeface="DM Sans Bold"/>
                <a:ea typeface="DM Sans Bold"/>
                <a:cs typeface="DM Sans Bold"/>
                <a:sym typeface="DM Sans Bold"/>
              </a:rPr>
              <a:t>Tools and Technologies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99353" y="4654543"/>
            <a:ext cx="4855128" cy="3677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Role-based platform (startups, investors, mentors)</a:t>
            </a:r>
            <a:endParaRPr lang="en-US"/>
          </a:p>
          <a:p>
            <a:pPr algn="just">
              <a:lnSpc>
                <a:spcPts val="2940"/>
              </a:lnSpc>
            </a:pPr>
            <a:endParaRPr lang="en-US" sz="21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Structured idea sharing &amp; feedback</a:t>
            </a:r>
            <a:endParaRPr lang="en-US" sz="210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  <a:p>
            <a:pPr algn="just">
              <a:lnSpc>
                <a:spcPts val="2940"/>
              </a:lnSpc>
            </a:pPr>
            <a:endParaRPr lang="en-US" sz="21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31800" lvl="1" indent="-215900" algn="just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Real-time communication &amp; mentorship</a:t>
            </a:r>
            <a:endParaRPr lang="en-US" sz="200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  <a:p>
            <a:pPr algn="just">
              <a:lnSpc>
                <a:spcPts val="2940"/>
              </a:lnSpc>
            </a:pPr>
            <a:endParaRPr lang="en-US" sz="20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AI-assisted guidance &amp; </a:t>
            </a:r>
            <a:r>
              <a:rPr lang="en-US" sz="2100">
                <a:solidFill>
                  <a:srgbClr val="000000"/>
                </a:solidFill>
                <a:latin typeface="DM Sans"/>
                <a:ea typeface="+mn-lt"/>
                <a:cs typeface="+mn-lt"/>
                <a:sym typeface="DM Sans"/>
              </a:rPr>
              <a:t>accessible </a:t>
            </a: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support</a:t>
            </a:r>
            <a:endParaRPr lang="en-US" sz="210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6748228" y="4654543"/>
            <a:ext cx="4855128" cy="4074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Next.js (Frontend)</a:t>
            </a:r>
            <a:endParaRPr lang="en-US">
              <a:ea typeface="Calibri"/>
              <a:cs typeface="Calibri"/>
            </a:endParaRP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Django REST Framework &amp; </a:t>
            </a:r>
            <a:r>
              <a:rPr lang="en-US" sz="210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FastAPI</a:t>
            </a: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(Backend)</a:t>
            </a:r>
            <a:endParaRPr lang="en-US" sz="210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WebSockets</a:t>
            </a: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(Django Channels + Redis) for communication</a:t>
            </a:r>
            <a:endParaRPr lang="en-US" sz="210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Ollama with RAG using </a:t>
            </a:r>
            <a:r>
              <a:rPr lang="en-US" sz="210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langchain</a:t>
            </a: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and speech-to-text.</a:t>
            </a:r>
            <a:endParaRPr lang="en-US" sz="210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</a:rPr>
              <a:t>Finetuned </a:t>
            </a:r>
            <a:r>
              <a:rPr lang="en-US" sz="2100" err="1">
                <a:solidFill>
                  <a:srgbClr val="000000"/>
                </a:solidFill>
                <a:latin typeface="DM Sans"/>
                <a:ea typeface="DM Sans"/>
                <a:cs typeface="DM Sans"/>
              </a:rPr>
              <a:t>ollama</a:t>
            </a: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</a:rPr>
              <a:t> model.</a:t>
            </a: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 err="1">
                <a:solidFill>
                  <a:srgbClr val="000000"/>
                </a:solidFill>
                <a:latin typeface="DM Sans"/>
                <a:ea typeface="DM Sans"/>
                <a:cs typeface="DM Sans"/>
              </a:rPr>
              <a:t>Geopy</a:t>
            </a: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</a:rPr>
              <a:t> and </a:t>
            </a:r>
            <a:r>
              <a:rPr lang="en-US" sz="2100" err="1">
                <a:solidFill>
                  <a:srgbClr val="000000"/>
                </a:solidFill>
                <a:latin typeface="DM Sans"/>
                <a:ea typeface="DM Sans"/>
                <a:cs typeface="DM Sans"/>
              </a:rPr>
              <a:t>openstreetsmap</a:t>
            </a: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</a:rPr>
              <a:t> to render interested user's city location.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832461" y="4654543"/>
            <a:ext cx="4845682" cy="33310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Users register based on role</a:t>
            </a:r>
            <a:endParaRPr lang="en-US"/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</a:rPr>
              <a:t>Users can share and interact with </a:t>
            </a:r>
            <a:r>
              <a:rPr lang="en-US" sz="2100" err="1">
                <a:solidFill>
                  <a:srgbClr val="000000"/>
                </a:solidFill>
                <a:latin typeface="DM Sans"/>
                <a:ea typeface="DM Sans"/>
                <a:cs typeface="DM Sans"/>
              </a:rPr>
              <a:t>eachother's</a:t>
            </a: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</a:rPr>
              <a:t> startup ideas.</a:t>
            </a: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</a:rPr>
              <a:t>Startups can find their desired mentors</a:t>
            </a: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RAG chat system provides instant navigation through Catalyst.</a:t>
            </a:r>
            <a:endParaRPr lang="en-US" sz="210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Catalyst AI provides a mentor-like guidance to grow your venture.</a:t>
            </a:r>
            <a:endParaRPr lang="en-US" sz="210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83866" y="510168"/>
            <a:ext cx="14320269" cy="1037064"/>
            <a:chOff x="0" y="0"/>
            <a:chExt cx="2946557" cy="2133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46557" cy="213388"/>
            </a:xfrm>
            <a:custGeom>
              <a:avLst/>
              <a:gdLst/>
              <a:ahLst/>
              <a:cxnLst/>
              <a:rect l="l" t="t" r="r" b="b"/>
              <a:pathLst>
                <a:path w="2946557" h="213388">
                  <a:moveTo>
                    <a:pt x="845" y="0"/>
                  </a:moveTo>
                  <a:lnTo>
                    <a:pt x="2945713" y="0"/>
                  </a:lnTo>
                  <a:cubicBezTo>
                    <a:pt x="2945937" y="0"/>
                    <a:pt x="2946152" y="89"/>
                    <a:pt x="2946310" y="247"/>
                  </a:cubicBezTo>
                  <a:cubicBezTo>
                    <a:pt x="2946468" y="406"/>
                    <a:pt x="2946557" y="621"/>
                    <a:pt x="2946557" y="845"/>
                  </a:cubicBezTo>
                  <a:lnTo>
                    <a:pt x="2946557" y="212543"/>
                  </a:lnTo>
                  <a:cubicBezTo>
                    <a:pt x="2946557" y="212767"/>
                    <a:pt x="2946468" y="212982"/>
                    <a:pt x="2946310" y="213140"/>
                  </a:cubicBezTo>
                  <a:cubicBezTo>
                    <a:pt x="2946152" y="213299"/>
                    <a:pt x="2945937" y="213388"/>
                    <a:pt x="2945713" y="213388"/>
                  </a:cubicBezTo>
                  <a:lnTo>
                    <a:pt x="845" y="213388"/>
                  </a:lnTo>
                  <a:cubicBezTo>
                    <a:pt x="621" y="213388"/>
                    <a:pt x="406" y="213299"/>
                    <a:pt x="247" y="213140"/>
                  </a:cubicBezTo>
                  <a:cubicBezTo>
                    <a:pt x="89" y="212982"/>
                    <a:pt x="0" y="212767"/>
                    <a:pt x="0" y="212543"/>
                  </a:cubicBezTo>
                  <a:lnTo>
                    <a:pt x="0" y="845"/>
                  </a:lnTo>
                  <a:cubicBezTo>
                    <a:pt x="0" y="621"/>
                    <a:pt x="89" y="406"/>
                    <a:pt x="247" y="247"/>
                  </a:cubicBezTo>
                  <a:cubicBezTo>
                    <a:pt x="406" y="89"/>
                    <a:pt x="621" y="0"/>
                    <a:pt x="845" y="0"/>
                  </a:cubicBezTo>
                  <a:close/>
                </a:path>
              </a:pathLst>
            </a:custGeom>
            <a:solidFill>
              <a:srgbClr val="FFA54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47625"/>
              <a:ext cx="2946557" cy="1657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79"/>
                </a:lnSpc>
              </a:pPr>
              <a:r>
                <a:rPr lang="en-US" sz="3999" b="1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Business Model Canvas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2057400"/>
            <a:ext cx="3086100" cy="4980386"/>
            <a:chOff x="0" y="0"/>
            <a:chExt cx="812800" cy="131170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1311707"/>
            </a:xfrm>
            <a:custGeom>
              <a:avLst/>
              <a:gdLst/>
              <a:ahLst/>
              <a:cxnLst/>
              <a:rect l="l" t="t" r="r" b="b"/>
              <a:pathLst>
                <a:path w="812800" h="1311707">
                  <a:moveTo>
                    <a:pt x="0" y="0"/>
                  </a:moveTo>
                  <a:lnTo>
                    <a:pt x="812800" y="0"/>
                  </a:lnTo>
                  <a:lnTo>
                    <a:pt x="812800" y="1311707"/>
                  </a:lnTo>
                  <a:lnTo>
                    <a:pt x="0" y="1311707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28575"/>
              <a:ext cx="812800" cy="12831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74"/>
                </a:lnSpc>
              </a:pPr>
              <a:r>
                <a:rPr lang="en-US" sz="2499" b="1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Key Partners</a:t>
              </a:r>
            </a:p>
            <a:p>
              <a:pPr algn="ctr">
                <a:lnSpc>
                  <a:spcPts val="1926"/>
                </a:lnSpc>
              </a:pPr>
              <a:endParaRPr lang="en-US" sz="2499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endParaRPr>
            </a:p>
            <a:p>
              <a:pPr marL="388620" lvl="1" indent="-194310" algn="l">
                <a:lnSpc>
                  <a:spcPts val="1926"/>
                </a:lnSpc>
                <a:buFont typeface="Arial"/>
                <a:buChar char="•"/>
              </a:pPr>
              <a:r>
                <a:rPr lang="en-US" sz="18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Mentors and industry experts</a:t>
              </a:r>
            </a:p>
            <a:p>
              <a:pPr algn="l">
                <a:lnSpc>
                  <a:spcPts val="1926"/>
                </a:lnSpc>
              </a:pPr>
              <a:endParaRPr lang="en-US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388620" lvl="1" indent="-194310" algn="l">
                <a:lnSpc>
                  <a:spcPts val="1926"/>
                </a:lnSpc>
                <a:buFont typeface="Arial"/>
                <a:buChar char="•"/>
              </a:pPr>
              <a:r>
                <a:rPr lang="en-US" sz="18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Investors Startup</a:t>
              </a:r>
            </a:p>
            <a:p>
              <a:pPr algn="l">
                <a:lnSpc>
                  <a:spcPts val="1926"/>
                </a:lnSpc>
              </a:pPr>
              <a:endParaRPr lang="en-US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388620" lvl="1" indent="-194310" algn="l">
                <a:lnSpc>
                  <a:spcPts val="1926"/>
                </a:lnSpc>
                <a:buFont typeface="Arial"/>
                <a:buChar char="•"/>
              </a:pPr>
              <a:r>
                <a:rPr lang="en-US" sz="18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Communities and innovation groups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319486" y="2057400"/>
            <a:ext cx="2939814" cy="4980386"/>
            <a:chOff x="0" y="0"/>
            <a:chExt cx="774272" cy="131170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74272" cy="1311707"/>
            </a:xfrm>
            <a:custGeom>
              <a:avLst/>
              <a:gdLst/>
              <a:ahLst/>
              <a:cxnLst/>
              <a:rect l="l" t="t" r="r" b="b"/>
              <a:pathLst>
                <a:path w="774272" h="1311707">
                  <a:moveTo>
                    <a:pt x="0" y="0"/>
                  </a:moveTo>
                  <a:lnTo>
                    <a:pt x="774272" y="0"/>
                  </a:lnTo>
                  <a:lnTo>
                    <a:pt x="774272" y="1311707"/>
                  </a:lnTo>
                  <a:lnTo>
                    <a:pt x="0" y="1311707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19050"/>
              <a:ext cx="774272" cy="12926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54"/>
                </a:lnSpc>
              </a:pPr>
              <a:r>
                <a:rPr lang="en-US" sz="2200" b="1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Customer Segments</a:t>
              </a:r>
            </a:p>
            <a:p>
              <a:pPr algn="ctr">
                <a:lnSpc>
                  <a:spcPts val="2354"/>
                </a:lnSpc>
              </a:pPr>
              <a:r>
                <a:rPr lang="en-US" sz="2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</a:p>
            <a:p>
              <a:pPr marL="367031" lvl="1" indent="-183515" algn="l">
                <a:lnSpc>
                  <a:spcPts val="1819"/>
                </a:lnSpc>
                <a:buFont typeface="Arial"/>
                <a:buChar char="•"/>
              </a:pP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Early-stage startup founders </a:t>
              </a:r>
            </a:p>
            <a:p>
              <a:pPr algn="l">
                <a:lnSpc>
                  <a:spcPts val="1819"/>
                </a:lnSpc>
              </a:pPr>
              <a:endParaRPr lang="en-US" sz="1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367031" lvl="1" indent="-183515" algn="l">
                <a:lnSpc>
                  <a:spcPts val="1819"/>
                </a:lnSpc>
                <a:buFont typeface="Arial"/>
                <a:buChar char="•"/>
              </a:pP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Investors </a:t>
              </a:r>
            </a:p>
            <a:p>
              <a:pPr algn="l">
                <a:lnSpc>
                  <a:spcPts val="1819"/>
                </a:lnSpc>
              </a:pPr>
              <a:endParaRPr lang="en-US" sz="1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367031" lvl="1" indent="-183515" algn="l">
                <a:lnSpc>
                  <a:spcPts val="1819"/>
                </a:lnSpc>
                <a:buFont typeface="Arial"/>
                <a:buChar char="•"/>
              </a:pP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Mentors and professionals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699611" y="2057400"/>
            <a:ext cx="3086100" cy="4980386"/>
            <a:chOff x="0" y="0"/>
            <a:chExt cx="812800" cy="131170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1311707"/>
            </a:xfrm>
            <a:custGeom>
              <a:avLst/>
              <a:gdLst/>
              <a:ahLst/>
              <a:cxnLst/>
              <a:rect l="l" t="t" r="r" b="b"/>
              <a:pathLst>
                <a:path w="812800" h="1311707">
                  <a:moveTo>
                    <a:pt x="0" y="0"/>
                  </a:moveTo>
                  <a:lnTo>
                    <a:pt x="812800" y="0"/>
                  </a:lnTo>
                  <a:lnTo>
                    <a:pt x="812800" y="1311707"/>
                  </a:lnTo>
                  <a:lnTo>
                    <a:pt x="0" y="1311707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28575"/>
              <a:ext cx="812800" cy="12831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75"/>
                </a:lnSpc>
              </a:pPr>
              <a:r>
                <a:rPr lang="en-US" sz="2500" b="1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Value Propositions</a:t>
              </a:r>
            </a:p>
            <a:p>
              <a:pPr algn="ctr">
                <a:lnSpc>
                  <a:spcPts val="2675"/>
                </a:lnSpc>
              </a:pPr>
              <a:endParaRPr lang="en-US" sz="25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endParaRPr>
            </a:p>
            <a:p>
              <a:pPr marL="388620" lvl="1" indent="-194310" algn="l">
                <a:lnSpc>
                  <a:spcPts val="1926"/>
                </a:lnSpc>
                <a:buFont typeface="Arial"/>
                <a:buChar char="•"/>
              </a:pPr>
              <a:r>
                <a:rPr lang="en-US" sz="18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Right Exposure for earlystage startups </a:t>
              </a:r>
            </a:p>
            <a:p>
              <a:pPr algn="l">
                <a:lnSpc>
                  <a:spcPts val="1926"/>
                </a:lnSpc>
              </a:pPr>
              <a:endParaRPr lang="en-US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388620" lvl="1" indent="-194310" algn="l">
                <a:lnSpc>
                  <a:spcPts val="1926"/>
                </a:lnSpc>
                <a:buFont typeface="Arial"/>
                <a:buChar char="•"/>
              </a:pPr>
              <a:r>
                <a:rPr lang="en-US" sz="18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Direct access to mentors and investors</a:t>
              </a:r>
            </a:p>
            <a:p>
              <a:pPr algn="l">
                <a:lnSpc>
                  <a:spcPts val="1926"/>
                </a:lnSpc>
              </a:pPr>
              <a:endParaRPr lang="en-US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388620" lvl="1" indent="-194310" algn="l">
                <a:lnSpc>
                  <a:spcPts val="1926"/>
                </a:lnSpc>
                <a:buFont typeface="Arial"/>
                <a:buChar char="•"/>
              </a:pPr>
              <a:r>
                <a:rPr lang="en-US" sz="18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Continuous guidance through AI &amp; mentors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364155" y="2057400"/>
            <a:ext cx="3086100" cy="2227098"/>
            <a:chOff x="0" y="0"/>
            <a:chExt cx="812800" cy="58656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586561"/>
            </a:xfrm>
            <a:custGeom>
              <a:avLst/>
              <a:gdLst/>
              <a:ahLst/>
              <a:cxnLst/>
              <a:rect l="l" t="t" r="r" b="b"/>
              <a:pathLst>
                <a:path w="812800" h="586561">
                  <a:moveTo>
                    <a:pt x="0" y="0"/>
                  </a:moveTo>
                  <a:lnTo>
                    <a:pt x="812800" y="0"/>
                  </a:lnTo>
                  <a:lnTo>
                    <a:pt x="812800" y="586561"/>
                  </a:lnTo>
                  <a:lnTo>
                    <a:pt x="0" y="586561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19050"/>
              <a:ext cx="812800" cy="5675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54"/>
                </a:lnSpc>
              </a:pPr>
              <a:r>
                <a:rPr lang="en-US" sz="2200" b="1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Key Activities</a:t>
              </a:r>
            </a:p>
            <a:p>
              <a:pPr algn="ctr">
                <a:lnSpc>
                  <a:spcPts val="2674"/>
                </a:lnSpc>
              </a:pPr>
              <a:endParaRPr lang="en-US" sz="22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endParaRPr>
            </a:p>
            <a:p>
              <a:pPr marL="367037" lvl="1" indent="-183519" algn="l">
                <a:lnSpc>
                  <a:spcPts val="1819"/>
                </a:lnSpc>
                <a:buFont typeface="Arial"/>
                <a:buChar char="•"/>
              </a:pP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Idea sharing and validation Mentorship and guidance</a:t>
              </a:r>
            </a:p>
            <a:p>
              <a:pPr marL="367037" lvl="1" indent="-183519" algn="l">
                <a:lnSpc>
                  <a:spcPts val="1819"/>
                </a:lnSpc>
                <a:buFont typeface="Arial"/>
                <a:buChar char="•"/>
              </a:pP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Real time communication and collaboration</a:t>
              </a:r>
            </a:p>
            <a:p>
              <a:pPr marL="367037" lvl="1" indent="-183519" algn="l">
                <a:lnSpc>
                  <a:spcPts val="1819"/>
                </a:lnSpc>
                <a:buFont typeface="Arial"/>
                <a:buChar char="•"/>
              </a:pP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Platform development and maintenance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364155" y="4547593"/>
            <a:ext cx="3086100" cy="2490193"/>
            <a:chOff x="0" y="0"/>
            <a:chExt cx="812800" cy="65585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655853"/>
            </a:xfrm>
            <a:custGeom>
              <a:avLst/>
              <a:gdLst/>
              <a:ahLst/>
              <a:cxnLst/>
              <a:rect l="l" t="t" r="r" b="b"/>
              <a:pathLst>
                <a:path w="812800" h="655853">
                  <a:moveTo>
                    <a:pt x="0" y="0"/>
                  </a:moveTo>
                  <a:lnTo>
                    <a:pt x="812800" y="0"/>
                  </a:lnTo>
                  <a:lnTo>
                    <a:pt x="812800" y="655853"/>
                  </a:lnTo>
                  <a:lnTo>
                    <a:pt x="0" y="655853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19050"/>
              <a:ext cx="812800" cy="6368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53"/>
                </a:lnSpc>
              </a:pPr>
              <a:r>
                <a:rPr lang="en-US" sz="2199" b="1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Key Resources</a:t>
              </a:r>
            </a:p>
            <a:p>
              <a:pPr algn="ctr">
                <a:lnSpc>
                  <a:spcPts val="1907"/>
                </a:lnSpc>
              </a:pPr>
              <a:endParaRPr lang="en-US" sz="2199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endParaRPr>
            </a:p>
            <a:p>
              <a:pPr marL="384826" lvl="1" indent="-192413" algn="l">
                <a:lnSpc>
                  <a:spcPts val="1907"/>
                </a:lnSpc>
                <a:buFont typeface="Arial"/>
                <a:buChar char="•"/>
              </a:pPr>
              <a:r>
                <a:rPr lang="en-US" sz="1782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Web Platform </a:t>
              </a:r>
            </a:p>
            <a:p>
              <a:pPr algn="l">
                <a:lnSpc>
                  <a:spcPts val="1907"/>
                </a:lnSpc>
              </a:pPr>
              <a:endParaRPr lang="en-US" sz="178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384826" lvl="1" indent="-192413" algn="l">
                <a:lnSpc>
                  <a:spcPts val="1907"/>
                </a:lnSpc>
                <a:buFont typeface="Arial"/>
                <a:buChar char="•"/>
              </a:pPr>
              <a:r>
                <a:rPr lang="en-US" sz="1782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Locally hosted RAG-based chat-bot</a:t>
              </a:r>
            </a:p>
            <a:p>
              <a:pPr algn="l">
                <a:lnSpc>
                  <a:spcPts val="1907"/>
                </a:lnSpc>
              </a:pPr>
              <a:endParaRPr lang="en-US" sz="178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384826" lvl="1" indent="-192413" algn="l">
                <a:lnSpc>
                  <a:spcPts val="1907"/>
                </a:lnSpc>
                <a:buFont typeface="Arial"/>
                <a:buChar char="•"/>
              </a:pPr>
              <a:r>
                <a:rPr lang="en-US" sz="1782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Community knowledge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985736" y="2057400"/>
            <a:ext cx="3086100" cy="2227098"/>
            <a:chOff x="0" y="0"/>
            <a:chExt cx="812800" cy="58656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586561"/>
            </a:xfrm>
            <a:custGeom>
              <a:avLst/>
              <a:gdLst/>
              <a:ahLst/>
              <a:cxnLst/>
              <a:rect l="l" t="t" r="r" b="b"/>
              <a:pathLst>
                <a:path w="812800" h="586561">
                  <a:moveTo>
                    <a:pt x="0" y="0"/>
                  </a:moveTo>
                  <a:lnTo>
                    <a:pt x="812800" y="0"/>
                  </a:lnTo>
                  <a:lnTo>
                    <a:pt x="812800" y="586561"/>
                  </a:lnTo>
                  <a:lnTo>
                    <a:pt x="0" y="586561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9525"/>
              <a:ext cx="812800" cy="5770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40"/>
                </a:lnSpc>
              </a:pPr>
              <a:r>
                <a:rPr lang="en-US" sz="2000" b="1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Customer Relationships</a:t>
              </a:r>
            </a:p>
            <a:p>
              <a:pPr algn="ctr">
                <a:lnSpc>
                  <a:spcPts val="2140"/>
                </a:lnSpc>
              </a:pPr>
              <a:endParaRPr lang="en-US" sz="20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endParaRPr>
            </a:p>
            <a:p>
              <a:pPr marL="367031" lvl="1" indent="-183515" algn="l">
                <a:lnSpc>
                  <a:spcPts val="1819"/>
                </a:lnSpc>
                <a:buFont typeface="Arial"/>
                <a:buChar char="•"/>
              </a:pP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Community driven engagements </a:t>
              </a:r>
            </a:p>
            <a:p>
              <a:pPr marL="367031" lvl="1" indent="-183515" algn="l">
                <a:lnSpc>
                  <a:spcPts val="1819"/>
                </a:lnSpc>
                <a:buFont typeface="Arial"/>
                <a:buChar char="•"/>
              </a:pP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Mentor-startup interactions </a:t>
              </a:r>
            </a:p>
            <a:p>
              <a:pPr marL="367031" lvl="1" indent="-183515" algn="l">
                <a:lnSpc>
                  <a:spcPts val="1819"/>
                </a:lnSpc>
                <a:buFont typeface="Arial"/>
                <a:buChar char="•"/>
              </a:pP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Self guidance using AI</a:t>
              </a:r>
            </a:p>
            <a:p>
              <a:pPr marL="367031" lvl="1" indent="-183515" algn="l">
                <a:lnSpc>
                  <a:spcPts val="1819"/>
                </a:lnSpc>
                <a:buFont typeface="Arial"/>
                <a:buChar char="•"/>
              </a:pP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Long term networking 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985736" y="4547593"/>
            <a:ext cx="3086100" cy="2490193"/>
            <a:chOff x="0" y="0"/>
            <a:chExt cx="812800" cy="65585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655853"/>
            </a:xfrm>
            <a:custGeom>
              <a:avLst/>
              <a:gdLst/>
              <a:ahLst/>
              <a:cxnLst/>
              <a:rect l="l" t="t" r="r" b="b"/>
              <a:pathLst>
                <a:path w="812800" h="655853">
                  <a:moveTo>
                    <a:pt x="0" y="0"/>
                  </a:moveTo>
                  <a:lnTo>
                    <a:pt x="812800" y="0"/>
                  </a:lnTo>
                  <a:lnTo>
                    <a:pt x="812800" y="655853"/>
                  </a:lnTo>
                  <a:lnTo>
                    <a:pt x="0" y="655853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19050"/>
              <a:ext cx="812800" cy="6368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53"/>
                </a:lnSpc>
              </a:pPr>
              <a:r>
                <a:rPr lang="en-US" sz="2199" b="1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Channels</a:t>
              </a:r>
            </a:p>
            <a:p>
              <a:pPr algn="ctr">
                <a:lnSpc>
                  <a:spcPts val="2353"/>
                </a:lnSpc>
              </a:pPr>
              <a:endParaRPr lang="en-US" sz="2199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endParaRPr>
            </a:p>
            <a:p>
              <a:pPr marL="367031" lvl="1" indent="-183515" algn="l">
                <a:lnSpc>
                  <a:spcPts val="1819"/>
                </a:lnSpc>
                <a:buFont typeface="Arial"/>
                <a:buChar char="•"/>
              </a:pP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Web-based application </a:t>
              </a:r>
            </a:p>
            <a:p>
              <a:pPr algn="l">
                <a:lnSpc>
                  <a:spcPts val="1819"/>
                </a:lnSpc>
              </a:pPr>
              <a:endParaRPr lang="en-US" sz="1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367031" lvl="1" indent="-183515" algn="l">
                <a:lnSpc>
                  <a:spcPts val="1819"/>
                </a:lnSpc>
                <a:buFont typeface="Arial"/>
                <a:buChar char="•"/>
              </a:pP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Real-time messaging and notifications</a:t>
              </a:r>
            </a:p>
            <a:p>
              <a:pPr algn="l">
                <a:lnSpc>
                  <a:spcPts val="1819"/>
                </a:lnSpc>
              </a:pPr>
              <a:endParaRPr lang="en-US" sz="1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367031" lvl="1" indent="-183515" algn="l">
                <a:lnSpc>
                  <a:spcPts val="1819"/>
                </a:lnSpc>
                <a:buFont typeface="Arial"/>
                <a:buChar char="•"/>
              </a:pP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Community dashboards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28700" y="7683684"/>
            <a:ext cx="7852205" cy="1574616"/>
            <a:chOff x="0" y="0"/>
            <a:chExt cx="2068070" cy="41471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068070" cy="414714"/>
            </a:xfrm>
            <a:custGeom>
              <a:avLst/>
              <a:gdLst/>
              <a:ahLst/>
              <a:cxnLst/>
              <a:rect l="l" t="t" r="r" b="b"/>
              <a:pathLst>
                <a:path w="2068070" h="414714">
                  <a:moveTo>
                    <a:pt x="0" y="0"/>
                  </a:moveTo>
                  <a:lnTo>
                    <a:pt x="2068070" y="0"/>
                  </a:lnTo>
                  <a:lnTo>
                    <a:pt x="2068070" y="414714"/>
                  </a:lnTo>
                  <a:lnTo>
                    <a:pt x="0" y="414714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19050"/>
              <a:ext cx="2068070" cy="395664"/>
            </a:xfrm>
            <a:prstGeom prst="rect">
              <a:avLst/>
            </a:prstGeom>
          </p:spPr>
          <p:txBody>
            <a:bodyPr lIns="38100" tIns="38100" rIns="38100" bIns="38100" rtlCol="0" anchor="ctr"/>
            <a:lstStyle/>
            <a:p>
              <a:pPr algn="ctr">
                <a:lnSpc>
                  <a:spcPts val="2353"/>
                </a:lnSpc>
              </a:pPr>
              <a:r>
                <a:rPr lang="en-US" sz="2199" b="1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Cost Structure </a:t>
              </a:r>
            </a:p>
            <a:p>
              <a:pPr algn="ctr">
                <a:lnSpc>
                  <a:spcPts val="1819"/>
                </a:lnSpc>
              </a:pP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Hosting and infrastructure </a:t>
              </a:r>
            </a:p>
            <a:p>
              <a:pPr algn="ctr">
                <a:lnSpc>
                  <a:spcPts val="1819"/>
                </a:lnSpc>
              </a:pP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Platform development and operations </a:t>
              </a:r>
            </a:p>
            <a:p>
              <a:pPr algn="ctr">
                <a:lnSpc>
                  <a:spcPts val="1819"/>
                </a:lnSpc>
              </a:pP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AI system deployment and maintenance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407095" y="7683684"/>
            <a:ext cx="7852205" cy="1574616"/>
            <a:chOff x="0" y="0"/>
            <a:chExt cx="2068070" cy="41471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068070" cy="414714"/>
            </a:xfrm>
            <a:custGeom>
              <a:avLst/>
              <a:gdLst/>
              <a:ahLst/>
              <a:cxnLst/>
              <a:rect l="l" t="t" r="r" b="b"/>
              <a:pathLst>
                <a:path w="2068070" h="414714">
                  <a:moveTo>
                    <a:pt x="0" y="0"/>
                  </a:moveTo>
                  <a:lnTo>
                    <a:pt x="2068070" y="0"/>
                  </a:lnTo>
                  <a:lnTo>
                    <a:pt x="2068070" y="414714"/>
                  </a:lnTo>
                  <a:lnTo>
                    <a:pt x="0" y="414714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19050"/>
              <a:ext cx="2068070" cy="3956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53"/>
                </a:lnSpc>
              </a:pPr>
              <a:r>
                <a:rPr lang="en-US" sz="2199" b="1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Revenue Streams </a:t>
              </a:r>
            </a:p>
            <a:p>
              <a:pPr algn="ctr">
                <a:lnSpc>
                  <a:spcPts val="1907"/>
                </a:lnSpc>
              </a:pPr>
              <a:r>
                <a:rPr lang="en-US" sz="1782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Early support exchange </a:t>
              </a:r>
            </a:p>
            <a:p>
              <a:pPr algn="ctr">
                <a:lnSpc>
                  <a:spcPts val="1907"/>
                </a:lnSpc>
              </a:pPr>
              <a:r>
                <a:rPr lang="en-US" sz="1782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Referral-based marketplace </a:t>
              </a:r>
            </a:p>
            <a:p>
              <a:pPr algn="ctr">
                <a:lnSpc>
                  <a:spcPts val="1907"/>
                </a:lnSpc>
              </a:pPr>
              <a:r>
                <a:rPr lang="en-US" sz="1782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Partnerships Institutional partnerships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44442" y="614226"/>
            <a:ext cx="11402318" cy="961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76"/>
              </a:lnSpc>
              <a:spcBef>
                <a:spcPct val="0"/>
              </a:spcBef>
            </a:pPr>
            <a:r>
              <a:rPr lang="en-US" sz="7475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IMPACT &amp; FUTURE SCOPE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3212" y="4050663"/>
            <a:ext cx="5164412" cy="5202001"/>
            <a:chOff x="-2487" y="0"/>
            <a:chExt cx="1362455" cy="136779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50016" cy="1367794"/>
            </a:xfrm>
            <a:custGeom>
              <a:avLst/>
              <a:gdLst/>
              <a:ahLst/>
              <a:cxnLst/>
              <a:rect l="l" t="t" r="r" b="b"/>
              <a:pathLst>
                <a:path w="1350016" h="1367794">
                  <a:moveTo>
                    <a:pt x="75519" y="0"/>
                  </a:moveTo>
                  <a:lnTo>
                    <a:pt x="1274497" y="0"/>
                  </a:lnTo>
                  <a:cubicBezTo>
                    <a:pt x="1316205" y="0"/>
                    <a:pt x="1350016" y="33811"/>
                    <a:pt x="1350016" y="75519"/>
                  </a:cubicBezTo>
                  <a:lnTo>
                    <a:pt x="1350016" y="1292275"/>
                  </a:lnTo>
                  <a:cubicBezTo>
                    <a:pt x="1350016" y="1333983"/>
                    <a:pt x="1316205" y="1367794"/>
                    <a:pt x="1274497" y="1367794"/>
                  </a:cubicBezTo>
                  <a:lnTo>
                    <a:pt x="75519" y="1367794"/>
                  </a:lnTo>
                  <a:cubicBezTo>
                    <a:pt x="33811" y="1367794"/>
                    <a:pt x="0" y="1333983"/>
                    <a:pt x="0" y="1292275"/>
                  </a:cubicBezTo>
                  <a:lnTo>
                    <a:pt x="0" y="75519"/>
                  </a:lnTo>
                  <a:cubicBezTo>
                    <a:pt x="0" y="33811"/>
                    <a:pt x="33811" y="0"/>
                    <a:pt x="75519" y="0"/>
                  </a:cubicBezTo>
                  <a:close/>
                </a:path>
              </a:pathLst>
            </a:custGeom>
            <a:solidFill>
              <a:srgbClr val="FAB885"/>
            </a:solidFill>
            <a:ln cap="rnd">
              <a:noFill/>
              <a:prstDash val="sysDot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-2487" y="287178"/>
              <a:ext cx="1362455" cy="1080616"/>
            </a:xfrm>
            <a:prstGeom prst="rect">
              <a:avLst/>
            </a:prstGeom>
          </p:spPr>
          <p:txBody>
            <a:bodyPr lIns="63500" tIns="63500" rIns="63500" bIns="63500" rtlCol="0" anchor="ctr"/>
            <a:lstStyle/>
            <a:p>
              <a:pPr marL="539115" lvl="1" indent="-269240">
                <a:lnSpc>
                  <a:spcPts val="4999"/>
                </a:lnSpc>
                <a:buFont typeface="Arial"/>
                <a:buChar char="•"/>
              </a:pPr>
              <a:r>
                <a:rPr lang="en-US" sz="2450" dirty="0">
                  <a:latin typeface="DM Sans"/>
                </a:rPr>
                <a:t>Provides virtual as well as physical networking opportunities.</a:t>
              </a:r>
              <a:endParaRPr lang="en-US" dirty="0">
                <a:ea typeface="Calibri"/>
                <a:cs typeface="Calibri"/>
              </a:endParaRPr>
            </a:p>
            <a:p>
              <a:pPr marL="539115" lvl="1" indent="-269240">
                <a:lnSpc>
                  <a:spcPts val="4999"/>
                </a:lnSpc>
                <a:buFont typeface="Arial"/>
                <a:buChar char="•"/>
              </a:pPr>
              <a:r>
                <a:rPr lang="en-US" sz="2450" dirty="0">
                  <a:solidFill>
                    <a:srgbClr val="000000"/>
                  </a:solidFill>
                  <a:latin typeface="DM Sans"/>
                  <a:ea typeface="DM Sans"/>
                  <a:cs typeface="DM Sans"/>
                </a:rPr>
                <a:t>Provides a platform for mentors/specialist looking for freelancing role.</a:t>
              </a:r>
              <a:endParaRPr lang="en-US" sz="2499">
                <a:solidFill>
                  <a:srgbClr val="000000"/>
                </a:solidFill>
                <a:latin typeface="DM Sans"/>
                <a:ea typeface="DM Sans"/>
                <a:cs typeface="DM Sans"/>
              </a:endParaRPr>
            </a:p>
            <a:p>
              <a:pPr marL="539115" lvl="1" indent="-269240">
                <a:lnSpc>
                  <a:spcPts val="4999"/>
                </a:lnSpc>
                <a:buFont typeface="Arial"/>
                <a:buChar char="•"/>
              </a:pPr>
              <a:r>
                <a:rPr lang="en-US" sz="2450" dirty="0">
                  <a:solidFill>
                    <a:srgbClr val="000000"/>
                  </a:solidFill>
                  <a:latin typeface="DM Sans"/>
                  <a:ea typeface="DM Sans"/>
                  <a:cs typeface="DM Sans"/>
                </a:rPr>
                <a:t>Providing mutual </a:t>
              </a:r>
              <a:r>
                <a:rPr lang="en-US" sz="2450" dirty="0" err="1">
                  <a:solidFill>
                    <a:srgbClr val="000000"/>
                  </a:solidFill>
                  <a:latin typeface="DM Sans"/>
                  <a:ea typeface="DM Sans"/>
                  <a:cs typeface="DM Sans"/>
                </a:rPr>
                <a:t>benefites</a:t>
              </a:r>
              <a:r>
                <a:rPr lang="en-US" sz="2450" dirty="0">
                  <a:solidFill>
                    <a:srgbClr val="000000"/>
                  </a:solidFill>
                  <a:latin typeface="DM Sans"/>
                  <a:ea typeface="DM Sans"/>
                  <a:cs typeface="DM Sans"/>
                </a:rPr>
                <a:t> .</a:t>
              </a:r>
              <a:endParaRPr lang="en-US" sz="2499" dirty="0">
                <a:solidFill>
                  <a:srgbClr val="000000"/>
                </a:solidFill>
                <a:latin typeface="DM Sans"/>
                <a:ea typeface="DM Sans"/>
                <a:cs typeface="DM Sans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11618" y="4050663"/>
            <a:ext cx="5125842" cy="5193342"/>
            <a:chOff x="0" y="0"/>
            <a:chExt cx="1350010" cy="136770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50010" cy="1367709"/>
            </a:xfrm>
            <a:custGeom>
              <a:avLst/>
              <a:gdLst/>
              <a:ahLst/>
              <a:cxnLst/>
              <a:rect l="l" t="t" r="r" b="b"/>
              <a:pathLst>
                <a:path w="1350010" h="1367709">
                  <a:moveTo>
                    <a:pt x="1350010" y="30207"/>
                  </a:moveTo>
                  <a:lnTo>
                    <a:pt x="1350010" y="1337501"/>
                  </a:lnTo>
                  <a:cubicBezTo>
                    <a:pt x="1350010" y="1345513"/>
                    <a:pt x="1346827" y="1353196"/>
                    <a:pt x="1341163" y="1358861"/>
                  </a:cubicBezTo>
                  <a:cubicBezTo>
                    <a:pt x="1335498" y="1364526"/>
                    <a:pt x="1327814" y="1367709"/>
                    <a:pt x="1319803" y="1367709"/>
                  </a:cubicBezTo>
                  <a:lnTo>
                    <a:pt x="30207" y="1367709"/>
                  </a:lnTo>
                  <a:cubicBezTo>
                    <a:pt x="13524" y="1367709"/>
                    <a:pt x="0" y="1354184"/>
                    <a:pt x="0" y="1337501"/>
                  </a:cubicBezTo>
                  <a:lnTo>
                    <a:pt x="0" y="30207"/>
                  </a:lnTo>
                  <a:cubicBezTo>
                    <a:pt x="0" y="13524"/>
                    <a:pt x="13524" y="0"/>
                    <a:pt x="30207" y="0"/>
                  </a:cubicBezTo>
                  <a:lnTo>
                    <a:pt x="1319803" y="0"/>
                  </a:lnTo>
                  <a:cubicBezTo>
                    <a:pt x="1336486" y="0"/>
                    <a:pt x="1350010" y="13524"/>
                    <a:pt x="1350010" y="30207"/>
                  </a:cubicBezTo>
                  <a:close/>
                </a:path>
              </a:pathLst>
            </a:custGeom>
            <a:solidFill>
              <a:srgbClr val="FAB885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190500"/>
              <a:ext cx="1350010" cy="1558209"/>
            </a:xfrm>
            <a:prstGeom prst="rect">
              <a:avLst/>
            </a:prstGeom>
          </p:spPr>
          <p:txBody>
            <a:bodyPr lIns="63500" tIns="63500" rIns="63500" bIns="63500" rtlCol="0" anchor="ctr"/>
            <a:lstStyle/>
            <a:p>
              <a:pPr marL="539748" lvl="1" indent="-269874" algn="l">
                <a:lnSpc>
                  <a:spcPts val="49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Modular system design</a:t>
              </a:r>
            </a:p>
            <a:p>
              <a:pPr marL="539748" lvl="1" indent="-269874" algn="l">
                <a:lnSpc>
                  <a:spcPts val="49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Community-driven growth</a:t>
              </a:r>
            </a:p>
            <a:p>
              <a:pPr marL="539748" lvl="1" indent="-269874" algn="l">
                <a:lnSpc>
                  <a:spcPts val="49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AI-assisted support scaling</a:t>
              </a:r>
            </a:p>
            <a:p>
              <a:pPr marL="539748" lvl="1" indent="-269874" algn="l">
                <a:lnSpc>
                  <a:spcPts val="49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Multi-domain adaptability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561747" y="4050663"/>
            <a:ext cx="5125842" cy="5193342"/>
            <a:chOff x="0" y="0"/>
            <a:chExt cx="1350016" cy="136779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50016" cy="1367794"/>
            </a:xfrm>
            <a:custGeom>
              <a:avLst/>
              <a:gdLst/>
              <a:ahLst/>
              <a:cxnLst/>
              <a:rect l="l" t="t" r="r" b="b"/>
              <a:pathLst>
                <a:path w="1350016" h="1367794">
                  <a:moveTo>
                    <a:pt x="75519" y="0"/>
                  </a:moveTo>
                  <a:lnTo>
                    <a:pt x="1274497" y="0"/>
                  </a:lnTo>
                  <a:cubicBezTo>
                    <a:pt x="1316205" y="0"/>
                    <a:pt x="1350016" y="33811"/>
                    <a:pt x="1350016" y="75519"/>
                  </a:cubicBezTo>
                  <a:lnTo>
                    <a:pt x="1350016" y="1292275"/>
                  </a:lnTo>
                  <a:cubicBezTo>
                    <a:pt x="1350016" y="1333983"/>
                    <a:pt x="1316205" y="1367794"/>
                    <a:pt x="1274497" y="1367794"/>
                  </a:cubicBezTo>
                  <a:lnTo>
                    <a:pt x="75519" y="1367794"/>
                  </a:lnTo>
                  <a:cubicBezTo>
                    <a:pt x="33811" y="1367794"/>
                    <a:pt x="0" y="1333983"/>
                    <a:pt x="0" y="1292275"/>
                  </a:cubicBezTo>
                  <a:lnTo>
                    <a:pt x="0" y="75519"/>
                  </a:lnTo>
                  <a:cubicBezTo>
                    <a:pt x="0" y="33811"/>
                    <a:pt x="33811" y="0"/>
                    <a:pt x="75519" y="0"/>
                  </a:cubicBezTo>
                  <a:close/>
                </a:path>
              </a:pathLst>
            </a:custGeom>
            <a:solidFill>
              <a:srgbClr val="FAB885"/>
            </a:solidFill>
            <a:ln cap="rnd">
              <a:noFill/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190500"/>
              <a:ext cx="1350016" cy="1558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539115" lvl="1" indent="-269240">
                <a:lnSpc>
                  <a:spcPts val="4999"/>
                </a:lnSpc>
                <a:buFont typeface="Arial"/>
                <a:buChar char="•"/>
              </a:pPr>
              <a:endParaRPr lang="en-US" sz="2450">
                <a:latin typeface="DM Sans"/>
              </a:endParaRPr>
            </a:p>
            <a:p>
              <a:pPr marL="539115" lvl="1" indent="-269240">
                <a:lnSpc>
                  <a:spcPts val="4999"/>
                </a:lnSpc>
                <a:buFont typeface="Arial"/>
                <a:buChar char="•"/>
              </a:pPr>
              <a:endParaRPr lang="en-US" sz="2450">
                <a:latin typeface="DM Sans"/>
              </a:endParaRPr>
            </a:p>
            <a:p>
              <a:pPr marL="539115" lvl="1" indent="-269240">
                <a:lnSpc>
                  <a:spcPts val="4999"/>
                </a:lnSpc>
                <a:buFont typeface="Arial"/>
                <a:buChar char="•"/>
              </a:pPr>
              <a:r>
                <a:rPr lang="en-US" sz="2450">
                  <a:latin typeface="DM Sans"/>
                </a:rPr>
                <a:t>Better trained AI models for more personalized mentorship.</a:t>
              </a:r>
              <a:endParaRPr lang="en-US"/>
            </a:p>
            <a:p>
              <a:pPr marL="539115" lvl="1" indent="-269240">
                <a:lnSpc>
                  <a:spcPts val="4999"/>
                </a:lnSpc>
                <a:buFont typeface="Arial"/>
                <a:buChar char="•"/>
              </a:pPr>
              <a:r>
                <a:rPr lang="en-US" sz="2450">
                  <a:solidFill>
                    <a:srgbClr val="000000"/>
                  </a:solidFill>
                  <a:latin typeface="DM Sans"/>
                  <a:ea typeface="Calibri"/>
                  <a:cs typeface="Calibri"/>
                </a:rPr>
                <a:t>Equity distribution system with proper legal backing.</a:t>
              </a:r>
              <a:endParaRPr lang="en-US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  <a:p>
              <a:pPr marL="539115" lvl="1" indent="-269240">
                <a:lnSpc>
                  <a:spcPts val="4999"/>
                </a:lnSpc>
                <a:buFont typeface="Arial"/>
                <a:buChar char="•"/>
              </a:pPr>
              <a:r>
                <a:rPr lang="en-US" sz="2450">
                  <a:solidFill>
                    <a:srgbClr val="000000"/>
                  </a:solidFill>
                  <a:latin typeface="DM Sans"/>
                  <a:ea typeface="DM Sans"/>
                  <a:cs typeface="DM Sans"/>
                </a:rPr>
                <a:t>Enhanced AI features such as text-to-speech and conversation modes.</a:t>
              </a:r>
            </a:p>
            <a:p>
              <a:pPr algn="l">
                <a:lnSpc>
                  <a:spcPts val="4999"/>
                </a:lnSpc>
              </a:pPr>
              <a:endParaRPr lang="en-US" sz="2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22834" y="2845939"/>
            <a:ext cx="460816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FF751F"/>
                </a:solidFill>
                <a:latin typeface="DM Sans Bold"/>
                <a:ea typeface="DM Sans Bold"/>
                <a:cs typeface="DM Sans Bold"/>
                <a:sym typeface="DM Sans Bold"/>
              </a:rPr>
              <a:t>Real-World Impact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886059" y="2845939"/>
            <a:ext cx="2576959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FF751F"/>
                </a:solidFill>
                <a:latin typeface="DM Sans Bold"/>
                <a:ea typeface="DM Sans Bold"/>
                <a:cs typeface="DM Sans Bold"/>
                <a:sym typeface="DM Sans Bold"/>
              </a:rPr>
              <a:t>Scalability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482945" y="2845939"/>
            <a:ext cx="3283446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FF751F"/>
                </a:solidFill>
                <a:latin typeface="DM Sans Bold"/>
                <a:ea typeface="DM Sans Bold"/>
                <a:cs typeface="DM Sans Bold"/>
                <a:sym typeface="DM Sans Bold"/>
              </a:rPr>
              <a:t>Future Scope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-1421995" y="-755508"/>
            <a:ext cx="2085990" cy="2085990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9320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07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6</cp:revision>
  <dcterms:created xsi:type="dcterms:W3CDTF">2006-08-16T00:00:00Z</dcterms:created>
  <dcterms:modified xsi:type="dcterms:W3CDTF">2026-01-12T03:13:38Z</dcterms:modified>
  <dc:identifier>DAG-Kj129tU</dc:identifier>
</cp:coreProperties>
</file>